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2D2D"/>
                </a:solidFill>
                <a:latin typeface="Arial"/>
              </a:defRPr>
            </a:pPr>
            <a:r>
              <a:t>High Availability Web Server – AWS Architecture</a:t>
            </a:r>
          </a:p>
        </p:txBody>
      </p:sp>
      <p:sp>
        <p:nvSpPr>
          <p:cNvPr id="3" name="Cloud 2"/>
          <p:cNvSpPr/>
          <p:nvPr/>
        </p:nvSpPr>
        <p:spPr>
          <a:xfrm>
            <a:off x="5074920" y="822960"/>
            <a:ext cx="2011680" cy="731520"/>
          </a:xfrm>
          <a:prstGeom prst="cloud">
            <a:avLst/>
          </a:prstGeom>
          <a:solidFill>
            <a:srgbClr val="F0F0F0"/>
          </a:solidFill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rial"/>
              </a:defRPr>
            </a:pPr>
            <a:r>
              <a:t>INTERNET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828800"/>
            <a:ext cx="3749039" cy="6858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1E1E"/>
                </a:solidFill>
                <a:latin typeface="Arial"/>
              </a:defRPr>
            </a:pPr>
            <a:r>
              <a:t>Application Load Balancer (ALB)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788920"/>
            <a:ext cx="11018520" cy="3337560"/>
          </a:xfrm>
          <a:prstGeom prst="rect">
            <a:avLst/>
          </a:prstGeom>
          <a:noFill/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1635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Arial"/>
              </a:defRPr>
            </a:pPr>
            <a:r>
              <a:t>VPC: HA-WebServer-VPC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2011680" cy="685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t>Internet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783080"/>
            <a:ext cx="1828800" cy="685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1E1E"/>
                </a:solidFill>
                <a:latin typeface="Arial"/>
              </a:defRPr>
            </a:pPr>
            <a:r>
              <a:t>Route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4892040" cy="2468880"/>
          </a:xfrm>
          <a:prstGeom prst="roundRect">
            <a:avLst/>
          </a:prstGeom>
          <a:noFill/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192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Arial"/>
              </a:defRPr>
            </a:pPr>
            <a:r>
              <a:t>Availability Zone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7588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rial"/>
              </a:defRPr>
            </a:pPr>
            <a:r>
              <a:t>Public Subnet 1 • 10.0.1.0/24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4160520"/>
            <a:ext cx="2880360" cy="822960"/>
          </a:xfrm>
          <a:prstGeom prst="roundRect">
            <a:avLst/>
          </a:prstGeom>
          <a:solidFill>
            <a:srgbClr val="EEF6EE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EC2 Web Server 1</a:t>
            </a:r>
            <a:br/>
            <a:r>
              <a:t>HA-WebServer-1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246120"/>
            <a:ext cx="4892040" cy="2468880"/>
          </a:xfrm>
          <a:prstGeom prst="roundRect">
            <a:avLst/>
          </a:prstGeom>
          <a:noFill/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192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Arial"/>
              </a:defRPr>
            </a:pPr>
            <a:r>
              <a:t>Availability Zone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7588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rial"/>
              </a:defRPr>
            </a:pPr>
            <a:r>
              <a:t>Public Subnet 2 • 10.0.2.0/24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160520"/>
            <a:ext cx="2880360" cy="822960"/>
          </a:xfrm>
          <a:prstGeom prst="roundRect">
            <a:avLst/>
          </a:prstGeom>
          <a:solidFill>
            <a:srgbClr val="EEF6EE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1E1E"/>
                </a:solidFill>
                <a:latin typeface="Arial"/>
              </a:defRPr>
            </a:pPr>
            <a:r>
              <a:t>EC2 Web Server 2</a:t>
            </a:r>
            <a:br/>
            <a:r>
              <a:t>HA-WebServer-2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1554480"/>
            <a:ext cx="0" cy="27432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788920" y="2167128"/>
            <a:ext cx="1417320" cy="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55279" y="2167128"/>
            <a:ext cx="1143001" cy="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337560" y="2514600"/>
            <a:ext cx="2743200" cy="164592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2514600"/>
            <a:ext cx="2651760" cy="164592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46120" y="6245352"/>
            <a:ext cx="5715000" cy="411480"/>
          </a:xfrm>
          <a:prstGeom prst="roundRect">
            <a:avLst/>
          </a:prstGeom>
          <a:solidFill>
            <a:srgbClr val="FFF9D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1E1E"/>
                </a:solidFill>
                <a:latin typeface="Arial"/>
              </a:defRPr>
            </a:pPr>
            <a:r>
              <a:t>Failover: If Server 1 fails → ALB routes traffic to healthy Server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1792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rial"/>
              </a:defRPr>
            </a:pPr>
            <a:r>
              <a:t>2 AZs • 2 EC2 • 1 ALB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